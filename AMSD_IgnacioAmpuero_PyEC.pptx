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9" r:id="rId5"/>
    <p:sldId id="258" r:id="rId6"/>
    <p:sldId id="261" r:id="rId7"/>
    <p:sldId id="263" r:id="rId8"/>
    <p:sldId id="262" r:id="rId9"/>
    <p:sldId id="266" r:id="rId10"/>
    <p:sldId id="265" r:id="rId11"/>
    <p:sldId id="264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DA373285-A8E2-4323-9068-34256163B8D8}" type="datetimeFigureOut">
              <a:rPr lang="es-CL" smtClean="0"/>
              <a:t>03-09-2026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060AF32-A03A-4DF7-B910-401DD84EBE3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52142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3285-A8E2-4323-9068-34256163B8D8}" type="datetimeFigureOut">
              <a:rPr lang="es-CL" smtClean="0"/>
              <a:t>03-09-2026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AF32-A03A-4DF7-B910-401DD84EBE3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431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A373285-A8E2-4323-9068-34256163B8D8}" type="datetimeFigureOut">
              <a:rPr lang="es-CL" smtClean="0"/>
              <a:t>03-09-2026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060AF32-A03A-4DF7-B910-401DD84EBE3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04509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3285-A8E2-4323-9068-34256163B8D8}" type="datetimeFigureOut">
              <a:rPr lang="es-CL" smtClean="0"/>
              <a:t>03-09-2026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AF32-A03A-4DF7-B910-401DD84EBE3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2194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3285-A8E2-4323-9068-34256163B8D8}" type="datetimeFigureOut">
              <a:rPr lang="es-CL" smtClean="0"/>
              <a:t>03-09-2026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AF32-A03A-4DF7-B910-401DD84EBE3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28907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3285-A8E2-4323-9068-34256163B8D8}" type="datetimeFigureOut">
              <a:rPr lang="es-CL" smtClean="0"/>
              <a:t>03-09-2026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AF32-A03A-4DF7-B910-401DD84EBE3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56500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3285-A8E2-4323-9068-34256163B8D8}" type="datetimeFigureOut">
              <a:rPr lang="es-CL" smtClean="0"/>
              <a:t>03-09-2026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AF32-A03A-4DF7-B910-401DD84EBE3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90188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3285-A8E2-4323-9068-34256163B8D8}" type="datetimeFigureOut">
              <a:rPr lang="es-CL" smtClean="0"/>
              <a:t>03-09-2026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AF32-A03A-4DF7-B910-401DD84EBE3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87618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3285-A8E2-4323-9068-34256163B8D8}" type="datetimeFigureOut">
              <a:rPr lang="es-CL" smtClean="0"/>
              <a:t>03-09-2026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AF32-A03A-4DF7-B910-401DD84EBE3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77688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3285-A8E2-4323-9068-34256163B8D8}" type="datetimeFigureOut">
              <a:rPr lang="es-CL" smtClean="0"/>
              <a:t>03-09-2026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AF32-A03A-4DF7-B910-401DD84EBE3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19408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A373285-A8E2-4323-9068-34256163B8D8}" type="datetimeFigureOut">
              <a:rPr lang="es-CL" smtClean="0"/>
              <a:t>03-09-2026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060AF32-A03A-4DF7-B910-401DD84EBE3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301338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A373285-A8E2-4323-9068-34256163B8D8}" type="datetimeFigureOut">
              <a:rPr lang="es-CL" smtClean="0"/>
              <a:t>03-09-2026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060AF32-A03A-4DF7-B910-401DD84EBE32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98095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A373285-A8E2-4323-9068-34256163B8D8}" type="datetimeFigureOut">
              <a:rPr lang="es-CL" smtClean="0"/>
              <a:t>03-09-2026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060AF32-A03A-4DF7-B910-401DD84EBE3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6123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3285-A8E2-4323-9068-34256163B8D8}" type="datetimeFigureOut">
              <a:rPr lang="es-CL" smtClean="0"/>
              <a:t>03-09-2026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AF32-A03A-4DF7-B910-401DD84EBE3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2496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3285-A8E2-4323-9068-34256163B8D8}" type="datetimeFigureOut">
              <a:rPr lang="es-CL" smtClean="0"/>
              <a:t>03-09-2026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AF32-A03A-4DF7-B910-401DD84EBE3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701672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3285-A8E2-4323-9068-34256163B8D8}" type="datetimeFigureOut">
              <a:rPr lang="es-CL" smtClean="0"/>
              <a:t>03-09-2026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0AF32-A03A-4DF7-B910-401DD84EBE3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580867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A373285-A8E2-4323-9068-34256163B8D8}" type="datetimeFigureOut">
              <a:rPr lang="es-CL" smtClean="0"/>
              <a:t>03-09-2026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060AF32-A03A-4DF7-B910-401DD84EBE3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4403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373285-A8E2-4323-9068-34256163B8D8}" type="datetimeFigureOut">
              <a:rPr lang="es-CL" smtClean="0"/>
              <a:t>03-09-2026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60AF32-A03A-4DF7-B910-401DD84EBE3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000514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emryz/PyEC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E47787-0874-8434-FDDE-F78E5C2379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s-CL" dirty="0">
                <a:latin typeface="Candara" panose="020E0502030303020204" pitchFamily="34" charset="0"/>
              </a:rPr>
              <a:t>Análisis de Métricas de Software y </a:t>
            </a:r>
            <a:r>
              <a:rPr lang="es-CL" dirty="0" err="1">
                <a:latin typeface="Candara" panose="020E0502030303020204" pitchFamily="34" charset="0"/>
              </a:rPr>
              <a:t>Devops</a:t>
            </a:r>
            <a:endParaRPr lang="es-CL" dirty="0">
              <a:latin typeface="Candara" panose="020E0502030303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D157DC-08B6-5CCB-017D-B611FBF0D9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60800"/>
            <a:ext cx="9448800" cy="1369567"/>
          </a:xfrm>
        </p:spPr>
        <p:txBody>
          <a:bodyPr>
            <a:normAutofit/>
          </a:bodyPr>
          <a:lstStyle/>
          <a:p>
            <a:r>
              <a:rPr lang="es-CL" dirty="0">
                <a:latin typeface="Candara" panose="020E0502030303020204" pitchFamily="34" charset="0"/>
              </a:rPr>
              <a:t>Ignacio Ampuero Chacón </a:t>
            </a:r>
          </a:p>
          <a:p>
            <a:r>
              <a:rPr lang="es-CL" dirty="0">
                <a:latin typeface="Candara" panose="020E0502030303020204" pitchFamily="34" charset="0"/>
              </a:rPr>
              <a:t>Probabilidad y Estadística Computacional                                              </a:t>
            </a:r>
          </a:p>
          <a:p>
            <a:r>
              <a:rPr lang="es-CL" dirty="0">
                <a:latin typeface="Candara" panose="020E0502030303020204" pitchFamily="34" charset="0"/>
                <a:hlinkClick r:id="rId2"/>
              </a:rPr>
              <a:t>https://github.com/nemryz/PyEC</a:t>
            </a:r>
            <a:endParaRPr lang="es-CL" dirty="0">
              <a:latin typeface="Candara" panose="020E0502030303020204" pitchFamily="34" charset="0"/>
            </a:endParaRPr>
          </a:p>
          <a:p>
            <a:endParaRPr lang="es-CL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821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B6E5D5-C64C-ACD1-B78E-0A5C37A55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s-CL" dirty="0">
                <a:latin typeface="Candara" panose="020E0502030303020204" pitchFamily="34" charset="0"/>
              </a:rPr>
              <a:t>¿Qué Analizamos en este laboratorio?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7DD351-9E3D-E379-D271-1726AF7C9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10820400" cy="4024125"/>
          </a:xfrm>
        </p:spPr>
        <p:txBody>
          <a:bodyPr>
            <a:normAutofit/>
          </a:bodyPr>
          <a:lstStyle/>
          <a:p>
            <a:pPr algn="just"/>
            <a:r>
              <a:rPr lang="es-CL" dirty="0">
                <a:latin typeface="Candara" panose="020E0502030303020204" pitchFamily="34" charset="0"/>
              </a:rPr>
              <a:t>Un </a:t>
            </a:r>
            <a:r>
              <a:rPr lang="es-CL" dirty="0" err="1">
                <a:latin typeface="Candara" panose="020E0502030303020204" pitchFamily="34" charset="0"/>
              </a:rPr>
              <a:t>dataset</a:t>
            </a:r>
            <a:r>
              <a:rPr lang="es-CL" dirty="0">
                <a:latin typeface="Candara" panose="020E0502030303020204" pitchFamily="34" charset="0"/>
              </a:rPr>
              <a:t> de 5.000 registros con métricas de desarrollo y despliegue de software indicados por el profesor.</a:t>
            </a:r>
          </a:p>
          <a:p>
            <a:pPr algn="just"/>
            <a:r>
              <a:rPr lang="es-CL" dirty="0">
                <a:latin typeface="Candara" panose="020E0502030303020204" pitchFamily="34" charset="0"/>
              </a:rPr>
              <a:t>10 variables, tiempo de </a:t>
            </a:r>
            <a:r>
              <a:rPr lang="es-CL" dirty="0" err="1">
                <a:latin typeface="Candara" panose="020E0502030303020204" pitchFamily="34" charset="0"/>
              </a:rPr>
              <a:t>build</a:t>
            </a:r>
            <a:r>
              <a:rPr lang="es-CL" dirty="0">
                <a:latin typeface="Candara" panose="020E0502030303020204" pitchFamily="34" charset="0"/>
              </a:rPr>
              <a:t>/despliegue, bugs, cobertura de pruebas, equipos, módulos y prioridades. </a:t>
            </a:r>
          </a:p>
          <a:p>
            <a:pPr algn="just"/>
            <a:r>
              <a:rPr lang="es-CL" dirty="0">
                <a:latin typeface="Candara" panose="020E0502030303020204" pitchFamily="34" charset="0"/>
              </a:rPr>
              <a:t>El objetivo fue aplicar estadística descriptiva para entender el comportamiento de estas métricas </a:t>
            </a:r>
          </a:p>
          <a:p>
            <a:pPr algn="just"/>
            <a:r>
              <a:rPr lang="es-CL" dirty="0">
                <a:latin typeface="Candara" panose="020E0502030303020204" pitchFamily="34" charset="0"/>
              </a:rPr>
              <a:t>Los datos generados de forma determinista (misma </a:t>
            </a:r>
            <a:r>
              <a:rPr lang="es-CL" dirty="0" err="1">
                <a:latin typeface="Candara" panose="020E0502030303020204" pitchFamily="34" charset="0"/>
              </a:rPr>
              <a:t>seed</a:t>
            </a:r>
            <a:r>
              <a:rPr lang="es-CL" dirty="0">
                <a:latin typeface="Candara" panose="020E0502030303020204" pitchFamily="34" charset="0"/>
              </a:rPr>
              <a:t>) fueron usados para garantizar la replicabilidad. </a:t>
            </a:r>
          </a:p>
        </p:txBody>
      </p:sp>
    </p:spTree>
    <p:extLst>
      <p:ext uri="{BB962C8B-B14F-4D97-AF65-F5344CB8AC3E}">
        <p14:creationId xmlns:p14="http://schemas.microsoft.com/office/powerpoint/2010/main" val="3399139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B36A0-02DB-7091-92AF-82F371B51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8EADF1-A8C6-0E47-2529-E8F7A786B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s-CL" dirty="0">
                <a:latin typeface="Candara" panose="020E0502030303020204" pitchFamily="34" charset="0"/>
              </a:rPr>
              <a:t>Limpieza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74FC45-6644-FC94-1487-F0A5F8D48EB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s-CL" dirty="0">
                <a:latin typeface="Candara" panose="020E0502030303020204" pitchFamily="34" charset="0"/>
              </a:rPr>
              <a:t>Se detectaron y corrigieron errores tipográficos en categorías (“Alfa” a “Alpha” , “Auth” a “</a:t>
            </a:r>
            <a:r>
              <a:rPr lang="es-CL" dirty="0" err="1">
                <a:latin typeface="Candara" panose="020E0502030303020204" pitchFamily="34" charset="0"/>
              </a:rPr>
              <a:t>auth</a:t>
            </a:r>
            <a:r>
              <a:rPr lang="es-CL" dirty="0">
                <a:latin typeface="Candara" panose="020E0502030303020204" pitchFamily="34" charset="0"/>
              </a:rPr>
              <a:t>”, </a:t>
            </a:r>
            <a:r>
              <a:rPr lang="es-CL" dirty="0" err="1">
                <a:latin typeface="Candara" panose="020E0502030303020204" pitchFamily="34" charset="0"/>
              </a:rPr>
              <a:t>etc</a:t>
            </a:r>
            <a:r>
              <a:rPr lang="es-CL" dirty="0">
                <a:latin typeface="Candara" panose="020E0502030303020204" pitchFamily="34" charset="0"/>
              </a:rPr>
              <a:t>)</a:t>
            </a:r>
          </a:p>
          <a:p>
            <a:pPr algn="just"/>
            <a:r>
              <a:rPr lang="es-CL" dirty="0">
                <a:latin typeface="Candara" panose="020E0502030303020204" pitchFamily="34" charset="0"/>
              </a:rPr>
              <a:t>Valores faltantes imputados por mediana del equipo correspondiente. </a:t>
            </a:r>
          </a:p>
          <a:p>
            <a:pPr algn="just"/>
            <a:r>
              <a:rPr lang="es-CL" dirty="0">
                <a:latin typeface="Candara" panose="020E0502030303020204" pitchFamily="34" charset="0"/>
              </a:rPr>
              <a:t>Valores negativos convertidos a NA (no tienen sentido físico)</a:t>
            </a:r>
          </a:p>
          <a:p>
            <a:pPr algn="just"/>
            <a:r>
              <a:rPr lang="es-CL" dirty="0" err="1">
                <a:latin typeface="Candara" panose="020E0502030303020204" pitchFamily="34" charset="0"/>
              </a:rPr>
              <a:t>Outliers</a:t>
            </a:r>
            <a:r>
              <a:rPr lang="es-CL" dirty="0">
                <a:latin typeface="Candara" panose="020E0502030303020204" pitchFamily="34" charset="0"/>
              </a:rPr>
              <a:t> (valores atípicos) marcados con el método de IQR (Rango intercuartílico) sin eliminarlos.</a:t>
            </a:r>
          </a:p>
          <a:p>
            <a:pPr algn="just"/>
            <a:r>
              <a:rPr lang="es-CL" dirty="0">
                <a:latin typeface="Candara" panose="020E0502030303020204" pitchFamily="34" charset="0"/>
              </a:rPr>
              <a:t>Cómo resultado, las 5.000 filas limpias, listas para el análisis.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1895DD0-6B60-88FF-91C0-2AB2F80F8BA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00218" y="2057401"/>
            <a:ext cx="5334000" cy="3556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14C0E13-DE83-E9FC-B7B8-1B3271DC638C}"/>
              </a:ext>
            </a:extLst>
          </p:cNvPr>
          <p:cNvSpPr txBox="1"/>
          <p:nvPr/>
        </p:nvSpPr>
        <p:spPr>
          <a:xfrm>
            <a:off x="6300218" y="5613401"/>
            <a:ext cx="533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dirty="0">
                <a:latin typeface="Candara" panose="020E0502030303020204" pitchFamily="34" charset="0"/>
              </a:rPr>
              <a:t>Fig 1. </a:t>
            </a:r>
            <a:r>
              <a:rPr lang="es-ES" dirty="0">
                <a:latin typeface="Candara" panose="020E0502030303020204" pitchFamily="34" charset="0"/>
              </a:rPr>
              <a:t>Histograma de </a:t>
            </a:r>
            <a:r>
              <a:rPr lang="es-ES" dirty="0" err="1">
                <a:latin typeface="Candara" panose="020E0502030303020204" pitchFamily="34" charset="0"/>
              </a:rPr>
              <a:t>build</a:t>
            </a:r>
            <a:r>
              <a:rPr lang="es-ES" dirty="0">
                <a:latin typeface="Candara" panose="020E0502030303020204" pitchFamily="34" charset="0"/>
              </a:rPr>
              <a:t> time que muestra la distribución con asimetría positiva)</a:t>
            </a:r>
            <a:endParaRPr lang="es-CL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471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76F15-9D9C-B589-525B-3E96ACF80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7458B5-5036-88B9-895E-993F56555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s-CL" dirty="0">
                <a:latin typeface="Candara" panose="020E0502030303020204" pitchFamily="34" charset="0"/>
              </a:rPr>
              <a:t>Descripción </a:t>
            </a:r>
            <a:r>
              <a:rPr lang="es-CL" dirty="0" err="1">
                <a:latin typeface="Candara" panose="020E0502030303020204" pitchFamily="34" charset="0"/>
              </a:rPr>
              <a:t>Univariada</a:t>
            </a:r>
            <a:r>
              <a:rPr lang="es-CL" dirty="0">
                <a:latin typeface="Candara" panose="020E0502030303020204" pitchFamily="34" charset="0"/>
              </a:rPr>
              <a:t>: como se comportan las variables individuales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C16408-F545-A089-0E90-90FFC412E9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s-CL" dirty="0">
                <a:latin typeface="Candara" panose="020E0502030303020204" pitchFamily="34" charset="0"/>
              </a:rPr>
              <a:t>El </a:t>
            </a:r>
            <a:r>
              <a:rPr lang="es-CL" dirty="0" err="1">
                <a:latin typeface="Candara" panose="020E0502030303020204" pitchFamily="34" charset="0"/>
              </a:rPr>
              <a:t>build</a:t>
            </a:r>
            <a:r>
              <a:rPr lang="es-CL" dirty="0">
                <a:latin typeface="Candara" panose="020E0502030303020204" pitchFamily="34" charset="0"/>
              </a:rPr>
              <a:t> time tuvo una media de 42.1 min, mediana 33.0 min, esto quiere decir que poseyó una asimetría positiva (pocas </a:t>
            </a:r>
            <a:r>
              <a:rPr lang="es-CL" dirty="0" err="1">
                <a:latin typeface="Candara" panose="020E0502030303020204" pitchFamily="34" charset="0"/>
              </a:rPr>
              <a:t>builds</a:t>
            </a:r>
            <a:r>
              <a:rPr lang="es-CL" dirty="0">
                <a:latin typeface="Candara" panose="020E0502030303020204" pitchFamily="34" charset="0"/>
              </a:rPr>
              <a:t> muy largas).</a:t>
            </a:r>
          </a:p>
          <a:p>
            <a:pPr algn="just"/>
            <a:r>
              <a:rPr lang="es-CL" dirty="0">
                <a:latin typeface="Candara" panose="020E0502030303020204" pitchFamily="34" charset="0"/>
              </a:rPr>
              <a:t>La cobertura de pruebas fueron: Media 71.9%, mediana 72.1&amp;, en conclusión, una distribución simétrica.</a:t>
            </a:r>
          </a:p>
          <a:p>
            <a:pPr algn="just"/>
            <a:r>
              <a:rPr lang="es-CL" dirty="0">
                <a:latin typeface="Candara" panose="020E0502030303020204" pitchFamily="34" charset="0"/>
              </a:rPr>
              <a:t>Tickets: Media 10.6h, mediana 7.5h, una gran variabilidad, algunas tardan hasta 220h.</a:t>
            </a:r>
          </a:p>
          <a:p>
            <a:pPr algn="just"/>
            <a:r>
              <a:rPr lang="es-CL" dirty="0">
                <a:latin typeface="Candara" panose="020E0502030303020204" pitchFamily="34" charset="0"/>
              </a:rPr>
              <a:t>Bugs: media 3.0, mediana 3, una distribución concentrada en valores bajos.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FE73F37-430C-8845-DC7D-A9B094C88AA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194559"/>
            <a:ext cx="5334000" cy="3556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4EA7B3B-DCE6-A712-9196-7245FD40BCF3}"/>
              </a:ext>
            </a:extLst>
          </p:cNvPr>
          <p:cNvSpPr txBox="1"/>
          <p:nvPr/>
        </p:nvSpPr>
        <p:spPr>
          <a:xfrm>
            <a:off x="6437219" y="5750559"/>
            <a:ext cx="5068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>
                <a:latin typeface="Candara" panose="020E0502030303020204" pitchFamily="34" charset="0"/>
              </a:rPr>
              <a:t>Fig 2. </a:t>
            </a:r>
            <a:r>
              <a:rPr lang="es-ES" dirty="0">
                <a:latin typeface="Candara" panose="020E0502030303020204" pitchFamily="34" charset="0"/>
              </a:rPr>
              <a:t>Histograma de cobertura de pruebas: distribución simétrica centrada en ~72%</a:t>
            </a:r>
            <a:endParaRPr lang="es-CL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708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E31B6-2D65-72B6-62B5-8BE2B9660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EF210B-1CA5-2C09-CE3B-3919A93F8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s-CL" dirty="0">
                <a:latin typeface="Candara" panose="020E0502030303020204" pitchFamily="34" charset="0"/>
              </a:rPr>
              <a:t>Frecuencias y Sturges: Agrupación de Datos – La Regla de Sturges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02EA0F-C270-D6D8-532C-E8EA99A5664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s-CL" dirty="0">
                <a:latin typeface="Candara" panose="020E0502030303020204" pitchFamily="34" charset="0"/>
              </a:rPr>
              <a:t>La fórmula de Sturges se uso con un logaritmo de base 10,  con n = 5.000.</a:t>
            </a:r>
          </a:p>
          <a:p>
            <a:pPr marL="0" indent="0" algn="just">
              <a:buNone/>
            </a:pPr>
            <a:r>
              <a:rPr lang="es-CL" dirty="0">
                <a:latin typeface="Candara" panose="020E0502030303020204" pitchFamily="34" charset="0"/>
              </a:rPr>
              <a:t>Se usa generalmente para determinar cuantos intervalos o clases conviene usar al organizar datos agrupados, en el caso mío fueron 14 clases. </a:t>
            </a:r>
          </a:p>
          <a:p>
            <a:pPr algn="just"/>
            <a:r>
              <a:rPr lang="es-CL" dirty="0" err="1">
                <a:latin typeface="Candara" panose="020E0502030303020204" pitchFamily="34" charset="0"/>
              </a:rPr>
              <a:t>Build</a:t>
            </a:r>
            <a:r>
              <a:rPr lang="es-CL" dirty="0">
                <a:latin typeface="Candara" panose="020E0502030303020204" pitchFamily="34" charset="0"/>
              </a:rPr>
              <a:t> time: el 61% de los </a:t>
            </a:r>
            <a:r>
              <a:rPr lang="es-CL" dirty="0" err="1">
                <a:latin typeface="Candara" panose="020E0502030303020204" pitchFamily="34" charset="0"/>
              </a:rPr>
              <a:t>builds</a:t>
            </a:r>
            <a:r>
              <a:rPr lang="es-CL" dirty="0">
                <a:latin typeface="Candara" panose="020E0502030303020204" pitchFamily="34" charset="0"/>
              </a:rPr>
              <a:t> están en el primer intervalo (menos de 39.5 min).</a:t>
            </a:r>
          </a:p>
          <a:p>
            <a:pPr algn="just"/>
            <a:r>
              <a:rPr lang="es-CL" dirty="0" err="1">
                <a:latin typeface="Candara" panose="020E0502030303020204" pitchFamily="34" charset="0"/>
              </a:rPr>
              <a:t>Deploy</a:t>
            </a:r>
            <a:r>
              <a:rPr lang="es-CL" dirty="0">
                <a:latin typeface="Candara" panose="020E0502030303020204" pitchFamily="34" charset="0"/>
              </a:rPr>
              <a:t> time: el 74% dura menos de 24.2 min. </a:t>
            </a:r>
          </a:p>
          <a:p>
            <a:pPr algn="just"/>
            <a:r>
              <a:rPr lang="es-CL" dirty="0">
                <a:latin typeface="Candara" panose="020E0502030303020204" pitchFamily="34" charset="0"/>
              </a:rPr>
              <a:t>La clase modal confirma que la mayoría de los valores se concentran en el extremo inferior.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626DA4DC-12EA-EDC2-174E-FCDE2D038C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0" y="2194559"/>
            <a:ext cx="5334000" cy="3333749"/>
          </a:xfrm>
          <a:prstGeom prst="rect">
            <a:avLst/>
          </a:prstGeom>
        </p:spPr>
      </p:pic>
      <p:pic>
        <p:nvPicPr>
          <p:cNvPr id="5" name="Imagen 4" descr="Sturges Formula - To Determine the Appropriate Number of K-intervals ...">
            <a:extLst>
              <a:ext uri="{FF2B5EF4-FFF2-40B4-BE49-F238E27FC236}">
                <a16:creationId xmlns:a16="http://schemas.microsoft.com/office/drawing/2014/main" id="{260D0CB6-F823-8004-F223-8E34E00891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017" b="10275"/>
          <a:stretch>
            <a:fillRect/>
          </a:stretch>
        </p:blipFill>
        <p:spPr>
          <a:xfrm>
            <a:off x="228600" y="1530106"/>
            <a:ext cx="1841148" cy="527295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1DDDB75-E0D9-2C78-E5B6-9C37DC81E6B6}"/>
              </a:ext>
            </a:extLst>
          </p:cNvPr>
          <p:cNvSpPr txBox="1"/>
          <p:nvPr/>
        </p:nvSpPr>
        <p:spPr>
          <a:xfrm>
            <a:off x="6172202" y="5572353"/>
            <a:ext cx="5117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dirty="0">
                <a:latin typeface="Candara" panose="020E0502030303020204" pitchFamily="34" charset="0"/>
              </a:rPr>
              <a:t>Fig 3. </a:t>
            </a:r>
            <a:r>
              <a:rPr lang="es-ES" dirty="0">
                <a:latin typeface="Candara" panose="020E0502030303020204" pitchFamily="34" charset="0"/>
              </a:rPr>
              <a:t>Histograma de </a:t>
            </a:r>
            <a:r>
              <a:rPr lang="es-ES" dirty="0" err="1">
                <a:latin typeface="Candara" panose="020E0502030303020204" pitchFamily="34" charset="0"/>
              </a:rPr>
              <a:t>build</a:t>
            </a:r>
            <a:r>
              <a:rPr lang="es-ES" dirty="0">
                <a:latin typeface="Candara" panose="020E0502030303020204" pitchFamily="34" charset="0"/>
              </a:rPr>
              <a:t> time con las 14 clases de Sturges</a:t>
            </a:r>
            <a:r>
              <a:rPr lang="es-CL" dirty="0">
                <a:latin typeface="Candara" panose="020E0502030303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16038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51358-E7D5-9861-552C-B8928561F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032D81-C9E2-378C-861D-4C2A5A87C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s-CL" dirty="0">
                <a:latin typeface="Candara" panose="020E0502030303020204" pitchFamily="34" charset="0"/>
              </a:rPr>
              <a:t>Análisis por Grupo: Comparación entre equipos y módulos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0F8362-8891-66E4-D8FE-E33E6DD4029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/>
            <a:r>
              <a:rPr lang="es-CL" dirty="0">
                <a:latin typeface="Candara" panose="020E0502030303020204" pitchFamily="34" charset="0"/>
              </a:rPr>
              <a:t>Alpha lidera en tasa de éxito de despliegue (65.3%), Beta tiene la menor (62.9%).</a:t>
            </a:r>
          </a:p>
          <a:p>
            <a:pPr algn="just"/>
            <a:r>
              <a:rPr lang="es-CL" dirty="0">
                <a:latin typeface="Candara" panose="020E0502030303020204" pitchFamily="34" charset="0"/>
              </a:rPr>
              <a:t>La diferencia radica en solo 2.4 puntos porcentuales, lo que asume que los equipos son muy similares.</a:t>
            </a:r>
          </a:p>
          <a:p>
            <a:pPr algn="just"/>
            <a:r>
              <a:rPr lang="es-CL" dirty="0">
                <a:latin typeface="Candara" panose="020E0502030303020204" pitchFamily="34" charset="0"/>
              </a:rPr>
              <a:t>El módulo infra tiene la mayor tasa de éxito (67.9%), test la menor (60.9%). </a:t>
            </a:r>
          </a:p>
          <a:p>
            <a:pPr algn="just"/>
            <a:r>
              <a:rPr lang="es-CL" dirty="0">
                <a:latin typeface="Candara" panose="020E0502030303020204" pitchFamily="34" charset="0"/>
              </a:rPr>
              <a:t>No hay diferencia significativa en bugs entre equipos, dado que todos tienen mediana = 3.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703B13A-32D2-F670-4716-886BE4EF968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240279"/>
            <a:ext cx="5334000" cy="296333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D1EF066B-2F2E-E773-A264-BAE65B45DCC8}"/>
              </a:ext>
            </a:extLst>
          </p:cNvPr>
          <p:cNvSpPr txBox="1"/>
          <p:nvPr/>
        </p:nvSpPr>
        <p:spPr>
          <a:xfrm>
            <a:off x="6396228" y="5203612"/>
            <a:ext cx="4885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dirty="0">
                <a:latin typeface="Candara" panose="020E0502030303020204" pitchFamily="34" charset="0"/>
              </a:rPr>
              <a:t>Fig 4. Barras de tasa de éxito por módulo: infra lidera con 67.9%</a:t>
            </a:r>
          </a:p>
        </p:txBody>
      </p:sp>
    </p:spTree>
    <p:extLst>
      <p:ext uri="{BB962C8B-B14F-4D97-AF65-F5344CB8AC3E}">
        <p14:creationId xmlns:p14="http://schemas.microsoft.com/office/powerpoint/2010/main" val="3542637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A5645-09E1-5CC6-A524-164C94F87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4D2719-5C39-9DD9-2E34-4B6F544D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s-CL" dirty="0">
                <a:latin typeface="Candara" panose="020E0502030303020204" pitchFamily="34" charset="0"/>
              </a:rPr>
              <a:t>Correlaciones: ¿Las métricas están relacionadas entre sí?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98CBA63-5A67-31E3-39D1-B41EE488D32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algn="just"/>
                <a:r>
                  <a:rPr lang="es-CL" dirty="0">
                    <a:latin typeface="Candara" panose="020E0502030303020204" pitchFamily="34" charset="0"/>
                  </a:rPr>
                  <a:t>Mediante la correlación de Pearson todas las variables tienen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s-C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s-CL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&lt;0.021</m:t>
                    </m:r>
                  </m:oMath>
                </a14:m>
                <a:r>
                  <a:rPr lang="es-CL" dirty="0">
                    <a:latin typeface="Candara" panose="020E0502030303020204" pitchFamily="34" charset="0"/>
                  </a:rPr>
                  <a:t>.</a:t>
                </a:r>
              </a:p>
              <a:p>
                <a:pPr algn="just"/>
                <a:r>
                  <a:rPr lang="es-CL" dirty="0">
                    <a:latin typeface="Candara" panose="020E0502030303020204" pitchFamily="34" charset="0"/>
                  </a:rPr>
                  <a:t>Esto significa que no existe una relación lineal apreciable entre ninguna pareja de variables. </a:t>
                </a:r>
              </a:p>
              <a:p>
                <a:pPr algn="just"/>
                <a:r>
                  <a:rPr lang="es-CL" dirty="0">
                    <a:latin typeface="Candara" panose="020E0502030303020204" pitchFamily="34" charset="0"/>
                  </a:rPr>
                  <a:t>Se hicieron pruebas Chi-cuadrado, de las que resultaron en: 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s-CL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CL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CL" b="0" i="1" smtClean="0">
                        <a:latin typeface="Cambria Math" panose="02040503050406030204" pitchFamily="18" charset="0"/>
                      </a:rPr>
                      <m:t>𝑣𝑎𝑙𝑜𝑟𝑒𝑠</m:t>
                    </m:r>
                    <m:r>
                      <a:rPr lang="es-CL" b="0" i="1" smtClean="0">
                        <a:latin typeface="Cambria Math" panose="02040503050406030204" pitchFamily="18" charset="0"/>
                      </a:rPr>
                      <m:t> &gt;0.05</m:t>
                    </m:r>
                  </m:oMath>
                </a14:m>
                <a:r>
                  <a:rPr lang="es-CL" dirty="0">
                    <a:latin typeface="Candara" panose="020E0502030303020204" pitchFamily="34" charset="0"/>
                  </a:rPr>
                  <a:t> , en todos los cruces de variables cualitativas. </a:t>
                </a:r>
              </a:p>
              <a:p>
                <a:pPr algn="just"/>
                <a:r>
                  <a:rPr lang="es-CL" dirty="0">
                    <a:latin typeface="Candara" panose="020E0502030303020204" pitchFamily="34" charset="0"/>
                  </a:rPr>
                  <a:t>Es decir, en conclusión, las métricas se comportan de forma independiente. 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98CBA63-5A67-31E3-39D1-B41EE488D3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486" t="-1970" r="-1371" b="-455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1A32AEE-C549-F9C4-9657-6E986334181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194559"/>
            <a:ext cx="5334000" cy="3556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EA06166-4A82-7B2B-CC87-16D3C768168E}"/>
              </a:ext>
            </a:extLst>
          </p:cNvPr>
          <p:cNvSpPr txBox="1"/>
          <p:nvPr/>
        </p:nvSpPr>
        <p:spPr>
          <a:xfrm>
            <a:off x="6512052" y="5770461"/>
            <a:ext cx="4654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dirty="0">
                <a:latin typeface="Candara" panose="020E0502030303020204" pitchFamily="34" charset="0"/>
              </a:rPr>
              <a:t>Fig 5. </a:t>
            </a:r>
            <a:r>
              <a:rPr lang="es-ES" dirty="0">
                <a:latin typeface="Candara" panose="020E0502030303020204" pitchFamily="34" charset="0"/>
              </a:rPr>
              <a:t>Dispersión de cobertura vs bugs: sin correlación, r = 0.013</a:t>
            </a:r>
            <a:endParaRPr lang="es-CL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7675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4BE69-A057-9DF3-9889-3422A14B7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A51596-02C0-B1A3-5FF1-5859F6364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00363"/>
            <a:ext cx="10820400" cy="1293028"/>
          </a:xfrm>
        </p:spPr>
        <p:txBody>
          <a:bodyPr>
            <a:normAutofit/>
          </a:bodyPr>
          <a:lstStyle/>
          <a:p>
            <a:pPr algn="ctr"/>
            <a:r>
              <a:rPr lang="es-CL" dirty="0">
                <a:latin typeface="Candara" panose="020E0502030303020204" pitchFamily="34" charset="0"/>
              </a:rPr>
              <a:t>Visualización Final: Los hallazgos claves en imágenes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6F7E33-3E0A-B43B-5D68-61333D3742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4924" y="2523743"/>
            <a:ext cx="11122152" cy="4024125"/>
          </a:xfrm>
        </p:spPr>
        <p:txBody>
          <a:bodyPr/>
          <a:lstStyle/>
          <a:p>
            <a:pPr algn="just"/>
            <a:r>
              <a:rPr lang="es-CL" dirty="0">
                <a:latin typeface="Candara" panose="020E0502030303020204" pitchFamily="34" charset="0"/>
              </a:rPr>
              <a:t>El </a:t>
            </a:r>
            <a:r>
              <a:rPr lang="es-CL" dirty="0" err="1">
                <a:latin typeface="Candara" panose="020E0502030303020204" pitchFamily="34" charset="0"/>
              </a:rPr>
              <a:t>build</a:t>
            </a:r>
            <a:r>
              <a:rPr lang="es-CL" dirty="0">
                <a:latin typeface="Candara" panose="020E0502030303020204" pitchFamily="34" charset="0"/>
              </a:rPr>
              <a:t> time es similar entre equipos con una mediana de ~33 min.</a:t>
            </a:r>
          </a:p>
          <a:p>
            <a:pPr algn="just"/>
            <a:r>
              <a:rPr lang="es-CL" dirty="0">
                <a:latin typeface="Candara" panose="020E0502030303020204" pitchFamily="34" charset="0"/>
              </a:rPr>
              <a:t>La proporción de despliegues exitosos es estable entre ~63-65% en todos los equipos.</a:t>
            </a:r>
          </a:p>
          <a:p>
            <a:pPr algn="just"/>
            <a:r>
              <a:rPr lang="es-CL" dirty="0">
                <a:latin typeface="Candara" panose="020E0502030303020204" pitchFamily="34" charset="0"/>
              </a:rPr>
              <a:t>La prioridad del ticket no afecta el tiempo de resolución.</a:t>
            </a:r>
          </a:p>
          <a:p>
            <a:pPr algn="just"/>
            <a:r>
              <a:rPr lang="es-CL" dirty="0">
                <a:latin typeface="Candara" panose="020E0502030303020204" pitchFamily="34" charset="0"/>
              </a:rPr>
              <a:t>El </a:t>
            </a:r>
            <a:r>
              <a:rPr lang="es-CL" dirty="0" err="1">
                <a:latin typeface="Candara" panose="020E0502030303020204" pitchFamily="34" charset="0"/>
              </a:rPr>
              <a:t>build</a:t>
            </a:r>
            <a:r>
              <a:rPr lang="es-CL" dirty="0">
                <a:latin typeface="Candara" panose="020E0502030303020204" pitchFamily="34" charset="0"/>
              </a:rPr>
              <a:t> time no predice </a:t>
            </a:r>
            <a:r>
              <a:rPr lang="es-CL" dirty="0" err="1">
                <a:latin typeface="Candara" panose="020E0502030303020204" pitchFamily="34" charset="0"/>
              </a:rPr>
              <a:t>deploy</a:t>
            </a:r>
            <a:r>
              <a:rPr lang="es-CL" dirty="0">
                <a:latin typeface="Candara" panose="020E0502030303020204" pitchFamily="34" charset="0"/>
              </a:rPr>
              <a:t> time con ninguno de los valores posibles. </a:t>
            </a:r>
          </a:p>
        </p:txBody>
      </p:sp>
    </p:spTree>
    <p:extLst>
      <p:ext uri="{BB962C8B-B14F-4D97-AF65-F5344CB8AC3E}">
        <p14:creationId xmlns:p14="http://schemas.microsoft.com/office/powerpoint/2010/main" val="293439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C24D7-DCBE-9EDD-DE56-64F2A500F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BF26CD-D3AD-4D0F-5B67-2325D2BCA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s-CL" dirty="0">
                <a:latin typeface="Candara" panose="020E0502030303020204" pitchFamily="34" charset="0"/>
              </a:rPr>
              <a:t>Visualización Final: Los hallazgos claves en imágenes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B251B97-F64B-546E-661E-6CCAD28BD7E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85800" y="2426884"/>
            <a:ext cx="5334000" cy="2963333"/>
          </a:xfrm>
          <a:prstGeom prst="rect">
            <a:avLst/>
          </a:prstGeom>
        </p:spPr>
      </p:pic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55F21651-56E3-D74A-C369-1BB7AA97F69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130551"/>
            <a:ext cx="5334000" cy="3556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7099473-F0F3-3EE2-AA28-E36375EEBB8F}"/>
              </a:ext>
            </a:extLst>
          </p:cNvPr>
          <p:cNvSpPr txBox="1"/>
          <p:nvPr/>
        </p:nvSpPr>
        <p:spPr>
          <a:xfrm>
            <a:off x="844296" y="5436534"/>
            <a:ext cx="5175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dirty="0">
                <a:latin typeface="Candara" panose="020E0502030303020204" pitchFamily="34" charset="0"/>
              </a:rPr>
              <a:t>Fig 6. </a:t>
            </a:r>
            <a:r>
              <a:rPr lang="es-CL" dirty="0" err="1">
                <a:latin typeface="Candara" panose="020E0502030303020204" pitchFamily="34" charset="0"/>
              </a:rPr>
              <a:t>Boxplot</a:t>
            </a:r>
            <a:r>
              <a:rPr lang="es-CL" dirty="0">
                <a:latin typeface="Candara" panose="020E0502030303020204" pitchFamily="34" charset="0"/>
              </a:rPr>
              <a:t> que muestra la distribución de </a:t>
            </a:r>
            <a:r>
              <a:rPr lang="es-CL" dirty="0" err="1">
                <a:latin typeface="Candara" panose="020E0502030303020204" pitchFamily="34" charset="0"/>
              </a:rPr>
              <a:t>build</a:t>
            </a:r>
            <a:r>
              <a:rPr lang="es-CL" dirty="0">
                <a:latin typeface="Candara" panose="020E0502030303020204" pitchFamily="34" charset="0"/>
              </a:rPr>
              <a:t> time para cada equipo.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95628FD-7B34-1E65-48B0-F996C260737D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18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43095FE-D552-7AE4-785C-5716898F60BF}"/>
              </a:ext>
            </a:extLst>
          </p:cNvPr>
          <p:cNvSpPr txBox="1"/>
          <p:nvPr/>
        </p:nvSpPr>
        <p:spPr>
          <a:xfrm>
            <a:off x="6094476" y="5686551"/>
            <a:ext cx="56701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dirty="0">
                <a:latin typeface="Candara" panose="020E0502030303020204" pitchFamily="34" charset="0"/>
              </a:rPr>
              <a:t>Fig 7. Gráfico de barras apiladas que muestra la proporción de despliegues exitosos, fallidos y con </a:t>
            </a:r>
            <a:r>
              <a:rPr lang="es-CL" dirty="0" err="1">
                <a:latin typeface="Candara" panose="020E0502030303020204" pitchFamily="34" charset="0"/>
              </a:rPr>
              <a:t>rollback</a:t>
            </a:r>
            <a:r>
              <a:rPr lang="es-CL" dirty="0">
                <a:latin typeface="Candara" panose="020E0502030303020204" pitchFamily="34" charset="0"/>
              </a:rPr>
              <a:t> de cada equipo.</a:t>
            </a:r>
          </a:p>
        </p:txBody>
      </p:sp>
    </p:spTree>
    <p:extLst>
      <p:ext uri="{BB962C8B-B14F-4D97-AF65-F5344CB8AC3E}">
        <p14:creationId xmlns:p14="http://schemas.microsoft.com/office/powerpoint/2010/main" val="1216869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F3CF0-C7FE-9D1D-0769-8817F84B8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419E34-EE54-6FB4-9D82-B946C0A5B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s-CL" dirty="0">
                <a:latin typeface="Candara" panose="020E0502030303020204" pitchFamily="34" charset="0"/>
              </a:rPr>
              <a:t>Conclusiones Principales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4520C5-2296-F20D-C3F8-E37A2CB77E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799" y="2194559"/>
            <a:ext cx="10820399" cy="4024125"/>
          </a:xfrm>
        </p:spPr>
        <p:txBody>
          <a:bodyPr/>
          <a:lstStyle/>
          <a:p>
            <a:pPr algn="just"/>
            <a:r>
              <a:rPr lang="es-CL" dirty="0">
                <a:latin typeface="Candara" panose="020E0502030303020204" pitchFamily="34" charset="0"/>
              </a:rPr>
              <a:t>Los tiempos de </a:t>
            </a:r>
            <a:r>
              <a:rPr lang="es-CL" dirty="0" err="1">
                <a:latin typeface="Candara" panose="020E0502030303020204" pitchFamily="34" charset="0"/>
              </a:rPr>
              <a:t>build</a:t>
            </a:r>
            <a:r>
              <a:rPr lang="es-CL" dirty="0">
                <a:latin typeface="Candara" panose="020E0502030303020204" pitchFamily="34" charset="0"/>
              </a:rPr>
              <a:t> tienen asimetría positiva, la mayoría siendo estos cortos, pero unos pocos son muy largos. </a:t>
            </a:r>
          </a:p>
          <a:p>
            <a:pPr algn="just"/>
            <a:r>
              <a:rPr lang="es-CL" dirty="0">
                <a:latin typeface="Candara" panose="020E0502030303020204" pitchFamily="34" charset="0"/>
              </a:rPr>
              <a:t>No hay diferencias significativas entre los 4 equipos en ninguna métrica, esto dado posiblemente por los datos deterministas.</a:t>
            </a:r>
          </a:p>
          <a:p>
            <a:pPr algn="just"/>
            <a:r>
              <a:rPr lang="es-CL" dirty="0">
                <a:latin typeface="Candara" panose="020E0502030303020204" pitchFamily="34" charset="0"/>
              </a:rPr>
              <a:t>El módulo infra tiene la mayor tasa de éxito (67.9%).</a:t>
            </a:r>
          </a:p>
          <a:p>
            <a:pPr algn="just"/>
            <a:r>
              <a:rPr lang="es-CL" dirty="0">
                <a:latin typeface="Candara" panose="020E0502030303020204" pitchFamily="34" charset="0"/>
              </a:rPr>
              <a:t>No existe correlación entre las variables métricas (todas &lt; 0.02).</a:t>
            </a:r>
          </a:p>
          <a:p>
            <a:pPr algn="just"/>
            <a:r>
              <a:rPr lang="es-CL" dirty="0">
                <a:latin typeface="Candara" panose="020E0502030303020204" pitchFamily="34" charset="0"/>
              </a:rPr>
              <a:t>La prioridad del ticket no influye en el tiempo de resoluciones. </a:t>
            </a:r>
          </a:p>
        </p:txBody>
      </p:sp>
    </p:spTree>
    <p:extLst>
      <p:ext uri="{BB962C8B-B14F-4D97-AF65-F5344CB8AC3E}">
        <p14:creationId xmlns:p14="http://schemas.microsoft.com/office/powerpoint/2010/main" val="353969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D4321-E3AE-65EA-ECA3-3644A6780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44ABBF-958D-054E-89D2-CA95F3492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s-CL" dirty="0">
                <a:latin typeface="Candara" panose="020E0502030303020204" pitchFamily="34" charset="0"/>
              </a:rPr>
              <a:t>Limitaciones y Trabajo futuro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CCC166-1F71-35F8-6D0F-3A3248A302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10820400" cy="4024125"/>
          </a:xfrm>
        </p:spPr>
        <p:txBody>
          <a:bodyPr/>
          <a:lstStyle/>
          <a:p>
            <a:pPr algn="just"/>
            <a:r>
              <a:rPr lang="es-CL" dirty="0">
                <a:latin typeface="Candara" panose="020E0502030303020204" pitchFamily="34" charset="0"/>
              </a:rPr>
              <a:t>El </a:t>
            </a:r>
            <a:r>
              <a:rPr lang="es-CL" dirty="0" err="1">
                <a:latin typeface="Candara" panose="020E0502030303020204" pitchFamily="34" charset="0"/>
              </a:rPr>
              <a:t>dataset</a:t>
            </a:r>
            <a:r>
              <a:rPr lang="es-CL" dirty="0">
                <a:latin typeface="Candara" panose="020E0502030303020204" pitchFamily="34" charset="0"/>
              </a:rPr>
              <a:t> al ser generado sintéticamente con variables independientes, lo que explica la ausencia de correlaciones. </a:t>
            </a:r>
          </a:p>
          <a:p>
            <a:pPr algn="just"/>
            <a:r>
              <a:rPr lang="es-CL" dirty="0">
                <a:latin typeface="Candara" panose="020E0502030303020204" pitchFamily="34" charset="0"/>
              </a:rPr>
              <a:t>Con datos reales, se esperarían correlaciones entre métricas (</a:t>
            </a:r>
            <a:r>
              <a:rPr lang="es-CL" dirty="0" err="1">
                <a:latin typeface="Candara" panose="020E0502030303020204" pitchFamily="34" charset="0"/>
              </a:rPr>
              <a:t>ej</a:t>
            </a:r>
            <a:r>
              <a:rPr lang="es-CL" dirty="0">
                <a:latin typeface="Candara" panose="020E0502030303020204" pitchFamily="34" charset="0"/>
              </a:rPr>
              <a:t>: más bugs cuando la cobertura es baja).</a:t>
            </a:r>
          </a:p>
          <a:p>
            <a:pPr algn="just"/>
            <a:r>
              <a:rPr lang="es-CL" dirty="0">
                <a:latin typeface="Candara" panose="020E0502030303020204" pitchFamily="34" charset="0"/>
              </a:rPr>
              <a:t>Las pruebas chi-cuadradas afectadas por la categoría “</a:t>
            </a:r>
            <a:r>
              <a:rPr lang="es-CL" dirty="0" err="1">
                <a:latin typeface="Candara" panose="020E0502030303020204" pitchFamily="34" charset="0"/>
              </a:rPr>
              <a:t>missing</a:t>
            </a:r>
            <a:r>
              <a:rPr lang="es-CL" dirty="0">
                <a:latin typeface="Candara" panose="020E0502030303020204" pitchFamily="34" charset="0"/>
              </a:rPr>
              <a:t>” con pocas observaciones. </a:t>
            </a:r>
          </a:p>
        </p:txBody>
      </p:sp>
    </p:spTree>
    <p:extLst>
      <p:ext uri="{BB962C8B-B14F-4D97-AF65-F5344CB8AC3E}">
        <p14:creationId xmlns:p14="http://schemas.microsoft.com/office/powerpoint/2010/main" val="596464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01C3B-B035-3457-E92C-223EAD549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43C100-3146-AAA1-FBFB-C1C7C5A6D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s-CL" dirty="0" err="1">
                <a:latin typeface="Candara" panose="020E0502030303020204" pitchFamily="34" charset="0"/>
              </a:rPr>
              <a:t>Bitacora</a:t>
            </a:r>
            <a:r>
              <a:rPr lang="es-CL" dirty="0">
                <a:latin typeface="Candara" panose="020E0502030303020204" pitchFamily="34" charset="0"/>
              </a:rPr>
              <a:t> de </a:t>
            </a:r>
            <a:r>
              <a:rPr lang="es-CL" dirty="0" err="1">
                <a:latin typeface="Candara" panose="020E0502030303020204" pitchFamily="34" charset="0"/>
              </a:rPr>
              <a:t>Prompts</a:t>
            </a:r>
            <a:r>
              <a:rPr lang="es-CL" dirty="0">
                <a:latin typeface="Candara" panose="020E0502030303020204" pitchFamily="34" charset="0"/>
              </a:rPr>
              <a:t>: Registro del Proceso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733D9B-A0BA-6E46-212B-296253C03D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10820400" cy="4024125"/>
          </a:xfrm>
        </p:spPr>
        <p:txBody>
          <a:bodyPr/>
          <a:lstStyle/>
          <a:p>
            <a:pPr algn="just"/>
            <a:r>
              <a:rPr lang="es-CL" dirty="0">
                <a:latin typeface="Candara" panose="020E0502030303020204" pitchFamily="34" charset="0"/>
              </a:rPr>
              <a:t>Se logro realizar la actividad con siete interacciones directas con la IA, algunas versiones extras dadas las implicancias de la mejora del </a:t>
            </a:r>
            <a:r>
              <a:rPr lang="es-CL" dirty="0" err="1">
                <a:latin typeface="Candara" panose="020E0502030303020204" pitchFamily="34" charset="0"/>
              </a:rPr>
              <a:t>prompt</a:t>
            </a:r>
            <a:r>
              <a:rPr lang="es-CL" dirty="0">
                <a:latin typeface="Candara" panose="020E0502030303020204" pitchFamily="34" charset="0"/>
              </a:rPr>
              <a:t> y de uno que otro error. </a:t>
            </a:r>
          </a:p>
          <a:p>
            <a:pPr algn="just"/>
            <a:r>
              <a:rPr lang="es-CL" dirty="0">
                <a:latin typeface="Candara" panose="020E0502030303020204" pitchFamily="34" charset="0"/>
              </a:rPr>
              <a:t>Cada </a:t>
            </a:r>
            <a:r>
              <a:rPr lang="es-CL" dirty="0" err="1">
                <a:latin typeface="Candara" panose="020E0502030303020204" pitchFamily="34" charset="0"/>
              </a:rPr>
              <a:t>prompt</a:t>
            </a:r>
            <a:r>
              <a:rPr lang="es-CL" dirty="0">
                <a:latin typeface="Candara" panose="020E0502030303020204" pitchFamily="34" charset="0"/>
              </a:rPr>
              <a:t> registra tanto su versión, su resultado, verificación manual, es decir, que hice yo en vez de depender directamente del uso de la IA. </a:t>
            </a:r>
          </a:p>
          <a:p>
            <a:pPr algn="just"/>
            <a:r>
              <a:rPr lang="es-CL" dirty="0">
                <a:latin typeface="Candara" panose="020E0502030303020204" pitchFamily="34" charset="0"/>
              </a:rPr>
              <a:t>También se documentaron errores y correcciones de rutas de archivos, sintaxis de R, entre otros conceptos. Así como documentación respectiva a comentarios internos dentro de los archivos correspondientes. </a:t>
            </a:r>
          </a:p>
          <a:p>
            <a:pPr marL="0" indent="0" algn="just">
              <a:buNone/>
            </a:pPr>
            <a:endParaRPr lang="es-CL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603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39F778-2598-C1F0-1110-B7EAFF3EC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s-CL" dirty="0">
                <a:latin typeface="Candara" panose="020E0502030303020204" pitchFamily="34" charset="0"/>
              </a:rPr>
              <a:t>Bitácora de </a:t>
            </a:r>
            <a:r>
              <a:rPr lang="es-CL" dirty="0" err="1">
                <a:latin typeface="Candara" panose="020E0502030303020204" pitchFamily="34" charset="0"/>
              </a:rPr>
              <a:t>Prompts</a:t>
            </a:r>
            <a:r>
              <a:rPr lang="es-CL" dirty="0">
                <a:latin typeface="Candara" panose="020E0502030303020204" pitchFamily="34" charset="0"/>
              </a:rPr>
              <a:t>: Resumen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3A0255F1-9EE1-3A14-5A6F-F5698ADCF7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078267"/>
              </p:ext>
            </p:extLst>
          </p:nvPr>
        </p:nvGraphicFramePr>
        <p:xfrm>
          <a:off x="758244" y="42842"/>
          <a:ext cx="10462640" cy="6772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092">
                  <a:extLst>
                    <a:ext uri="{9D8B030D-6E8A-4147-A177-3AD203B41FA5}">
                      <a16:colId xmlns:a16="http://schemas.microsoft.com/office/drawing/2014/main" val="4095785829"/>
                    </a:ext>
                  </a:extLst>
                </a:gridCol>
                <a:gridCol w="651807">
                  <a:extLst>
                    <a:ext uri="{9D8B030D-6E8A-4147-A177-3AD203B41FA5}">
                      <a16:colId xmlns:a16="http://schemas.microsoft.com/office/drawing/2014/main" val="1902424457"/>
                    </a:ext>
                  </a:extLst>
                </a:gridCol>
                <a:gridCol w="3394167">
                  <a:extLst>
                    <a:ext uri="{9D8B030D-6E8A-4147-A177-3AD203B41FA5}">
                      <a16:colId xmlns:a16="http://schemas.microsoft.com/office/drawing/2014/main" val="2043736973"/>
                    </a:ext>
                  </a:extLst>
                </a:gridCol>
                <a:gridCol w="3571875">
                  <a:extLst>
                    <a:ext uri="{9D8B030D-6E8A-4147-A177-3AD203B41FA5}">
                      <a16:colId xmlns:a16="http://schemas.microsoft.com/office/drawing/2014/main" val="846115021"/>
                    </a:ext>
                  </a:extLst>
                </a:gridCol>
                <a:gridCol w="1790699">
                  <a:extLst>
                    <a:ext uri="{9D8B030D-6E8A-4147-A177-3AD203B41FA5}">
                      <a16:colId xmlns:a16="http://schemas.microsoft.com/office/drawing/2014/main" val="1364655010"/>
                    </a:ext>
                  </a:extLst>
                </a:gridCol>
              </a:tblGrid>
              <a:tr h="811106">
                <a:tc>
                  <a:txBody>
                    <a:bodyPr/>
                    <a:lstStyle/>
                    <a:p>
                      <a:r>
                        <a:rPr lang="es-CL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FASE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Qué se Pidió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Qué se obtuvo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Error Detectado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947287"/>
                  </a:ext>
                </a:extLst>
              </a:tr>
              <a:tr h="1297770">
                <a:tc>
                  <a:txBody>
                    <a:bodyPr/>
                    <a:lstStyle/>
                    <a:p>
                      <a:r>
                        <a:rPr lang="es-CL" dirty="0"/>
                        <a:t>P001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err="1"/>
                        <a:t>Init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Generar </a:t>
                      </a:r>
                      <a:r>
                        <a:rPr lang="es-CL" dirty="0" err="1"/>
                        <a:t>dataset</a:t>
                      </a:r>
                      <a:r>
                        <a:rPr lang="es-CL" dirty="0"/>
                        <a:t> de 5.000 registros con anomalías controladas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Script </a:t>
                      </a:r>
                      <a:r>
                        <a:rPr lang="es-CL" dirty="0" err="1"/>
                        <a:t>generate_dataset.R</a:t>
                      </a:r>
                      <a:r>
                        <a:rPr lang="es-CL" dirty="0"/>
                        <a:t> con semilla fija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Directorio de trabajo incorrecto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956617"/>
                  </a:ext>
                </a:extLst>
              </a:tr>
              <a:tr h="567774">
                <a:tc>
                  <a:txBody>
                    <a:bodyPr/>
                    <a:lstStyle/>
                    <a:p>
                      <a:r>
                        <a:rPr lang="es-CL" dirty="0"/>
                        <a:t>P002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Fase 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Script de Carga y limpieza de datos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err="1"/>
                        <a:t>cargarLimpieza.R</a:t>
                      </a:r>
                      <a:r>
                        <a:rPr lang="es-CL" dirty="0"/>
                        <a:t> con imputación por mediana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Ruta del CSV mal ubicada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6775785"/>
                  </a:ext>
                </a:extLst>
              </a:tr>
              <a:tr h="567774">
                <a:tc>
                  <a:txBody>
                    <a:bodyPr/>
                    <a:lstStyle/>
                    <a:p>
                      <a:r>
                        <a:rPr lang="es-CL" dirty="0"/>
                        <a:t>P003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Fase 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Análisis descriptivo </a:t>
                      </a:r>
                      <a:r>
                        <a:rPr lang="es-CL" dirty="0" err="1"/>
                        <a:t>univariado</a:t>
                      </a:r>
                      <a:r>
                        <a:rPr lang="es-CL" dirty="0"/>
                        <a:t> con gráfico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err="1"/>
                        <a:t>descriptiva_univariada.R</a:t>
                      </a:r>
                      <a:r>
                        <a:rPr lang="es-CL" dirty="0"/>
                        <a:t> con 16 gráficos PNG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Instalar paquete “</a:t>
                      </a:r>
                      <a:r>
                        <a:rPr lang="es-CL" dirty="0" err="1"/>
                        <a:t>moments</a:t>
                      </a:r>
                      <a:r>
                        <a:rPr lang="es-CL" dirty="0"/>
                        <a:t>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3927726"/>
                  </a:ext>
                </a:extLst>
              </a:tr>
              <a:tr h="811106">
                <a:tc>
                  <a:txBody>
                    <a:bodyPr/>
                    <a:lstStyle/>
                    <a:p>
                      <a:r>
                        <a:rPr lang="es-CL" dirty="0"/>
                        <a:t>P004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Fase 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Frecuencias con regla de Sturges y comparación por grupos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err="1"/>
                        <a:t>frecuencias_agrupaciones.R</a:t>
                      </a:r>
                      <a:r>
                        <a:rPr lang="es-CL" dirty="0"/>
                        <a:t> con k=14 clases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660119"/>
                  </a:ext>
                </a:extLst>
              </a:tr>
              <a:tr h="567774">
                <a:tc>
                  <a:txBody>
                    <a:bodyPr/>
                    <a:lstStyle/>
                    <a:p>
                      <a:r>
                        <a:rPr lang="es-CL" dirty="0"/>
                        <a:t>P005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Fase 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Análisis por grupo con hallazgos numéricos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err="1"/>
                        <a:t>analisis_grupos.R</a:t>
                      </a:r>
                      <a:r>
                        <a:rPr lang="es-CL" dirty="0"/>
                        <a:t> con 5 hallazgos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3281799"/>
                  </a:ext>
                </a:extLst>
              </a:tr>
              <a:tr h="811106">
                <a:tc>
                  <a:txBody>
                    <a:bodyPr/>
                    <a:lstStyle/>
                    <a:p>
                      <a:r>
                        <a:rPr lang="es-CL" dirty="0"/>
                        <a:t>P006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Fase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dirty="0"/>
                        <a:t>Correlaciones y pruebas chi-cuadrados </a:t>
                      </a:r>
                    </a:p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err="1"/>
                        <a:t>relaciones_bivariadas.R</a:t>
                      </a:r>
                      <a:r>
                        <a:rPr lang="es-CL" dirty="0"/>
                        <a:t> con 4 </a:t>
                      </a:r>
                      <a:r>
                        <a:rPr lang="es-CL" dirty="0" err="1"/>
                        <a:t>scatter</a:t>
                      </a:r>
                      <a:r>
                        <a:rPr lang="es-CL" dirty="0"/>
                        <a:t> </a:t>
                      </a:r>
                      <a:r>
                        <a:rPr lang="es-CL" dirty="0" err="1"/>
                        <a:t>plots</a:t>
                      </a:r>
                      <a:r>
                        <a:rPr lang="es-CL" dirty="0"/>
                        <a:t> (gráfico de dispersión)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Error con </a:t>
                      </a:r>
                      <a:r>
                        <a:rPr lang="es-CL" dirty="0" err="1"/>
                        <a:t>distinct</a:t>
                      </a:r>
                      <a:r>
                        <a:rPr lang="es-CL" dirty="0"/>
                        <a:t>() con factores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646148"/>
                  </a:ext>
                </a:extLst>
              </a:tr>
              <a:tr h="567774">
                <a:tc>
                  <a:txBody>
                    <a:bodyPr/>
                    <a:lstStyle/>
                    <a:p>
                      <a:r>
                        <a:rPr lang="es-CL" dirty="0"/>
                        <a:t>P007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Fase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Visualización final con títulos comunicativos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err="1"/>
                        <a:t>visualizacion_final.R</a:t>
                      </a:r>
                      <a:r>
                        <a:rPr lang="es-CL" dirty="0"/>
                        <a:t> con 8 gráficos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-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454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0145981"/>
      </p:ext>
    </p:extLst>
  </p:cSld>
  <p:clrMapOvr>
    <a:masterClrMapping/>
  </p:clrMapOvr>
</p:sld>
</file>

<file path=ppt/theme/theme1.xml><?xml version="1.0" encoding="utf-8"?>
<a:theme xmlns:a="http://schemas.openxmlformats.org/drawingml/2006/main" name="Estela de condensación">
  <a:themeElements>
    <a:clrScheme name="Estela de condensació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Estela de condensació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tela de condensació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Estela de condensación</Template>
  <TotalTime>62</TotalTime>
  <Words>1115</Words>
  <Application>Microsoft Office PowerPoint</Application>
  <PresentationFormat>Panorámica</PresentationFormat>
  <Paragraphs>106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Cambria Math</vt:lpstr>
      <vt:lpstr>Candara</vt:lpstr>
      <vt:lpstr>Century Gothic</vt:lpstr>
      <vt:lpstr>Estela de condensación</vt:lpstr>
      <vt:lpstr>Análisis de Métricas de Software y Devops</vt:lpstr>
      <vt:lpstr>¿Qué Analizamos en este laboratorio?</vt:lpstr>
      <vt:lpstr>Limpieza de Datos</vt:lpstr>
      <vt:lpstr>Descripción Univariada: como se comportan las variables individuales</vt:lpstr>
      <vt:lpstr>Frecuencias y Sturges: Agrupación de Datos – La Regla de Sturges</vt:lpstr>
      <vt:lpstr>Análisis por Grupo: Comparación entre equipos y módulos</vt:lpstr>
      <vt:lpstr>Correlaciones: ¿Las métricas están relacionadas entre sí?</vt:lpstr>
      <vt:lpstr>Visualización Final: Los hallazgos claves en imágenes </vt:lpstr>
      <vt:lpstr>Visualización Final: Los hallazgos claves en imágenes </vt:lpstr>
      <vt:lpstr>Conclusiones Principales</vt:lpstr>
      <vt:lpstr>Limitaciones y Trabajo futuro</vt:lpstr>
      <vt:lpstr>Bitacora de Prompts: Registro del Proceso</vt:lpstr>
      <vt:lpstr>Bitácora de Prompts: Resumen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Ignacio Antonio Ampuero Chacón</dc:creator>
  <cp:lastModifiedBy>Ignacio Antonio Ampuero Chacón</cp:lastModifiedBy>
  <cp:revision>2</cp:revision>
  <dcterms:created xsi:type="dcterms:W3CDTF">2026-09-04T01:49:13Z</dcterms:created>
  <dcterms:modified xsi:type="dcterms:W3CDTF">2026-09-04T02:51:41Z</dcterms:modified>
</cp:coreProperties>
</file>